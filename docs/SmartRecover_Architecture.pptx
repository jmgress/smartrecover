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C"/>
        </a:solidFill>
        <a:effectLst/>
      </p:bgPr>
    </p:bg>
    <p:spTree>
      <p:nvGrpSpPr>
        <p:cNvPr id="1" name=""/>
        <p:cNvGrpSpPr/>
        <p:nvPr/>
      </p:nvGrpSpPr>
      <p:grpSpPr/>
      <p:sp>
        <p:nvSpPr>
          <p:cNvPr id="2" name="Rectangle 1"/>
          <p:cNvSpPr/>
          <p:nvPr/>
        </p:nvSpPr>
        <p:spPr>
          <a:xfrm>
            <a:off x="0" y="0"/>
            <a:ext cx="12188952" cy="502920"/>
          </a:xfrm>
          <a:prstGeom prst="rect">
            <a:avLst/>
          </a:prstGeom>
          <a:solidFill>
            <a:srgbClr val="4C1D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 y="73152"/>
            <a:ext cx="9144000" cy="365760"/>
          </a:xfrm>
          <a:prstGeom prst="rect">
            <a:avLst/>
          </a:prstGeom>
          <a:noFill/>
        </p:spPr>
        <p:txBody>
          <a:bodyPr wrap="square">
            <a:spAutoFit/>
          </a:bodyPr>
          <a:lstStyle/>
          <a:p>
            <a:pPr algn="l"/>
            <a:r>
              <a:rPr sz="1600" b="1" i="0">
                <a:solidFill>
                  <a:srgbClr val="FFFFFF"/>
                </a:solidFill>
              </a:rPr>
              <a:t>SmartRecover — Agentic Incident Management Platform</a:t>
            </a:r>
          </a:p>
        </p:txBody>
      </p:sp>
      <p:sp>
        <p:nvSpPr>
          <p:cNvPr id="4" name="TextBox 3"/>
          <p:cNvSpPr txBox="1"/>
          <p:nvPr/>
        </p:nvSpPr>
        <p:spPr>
          <a:xfrm>
            <a:off x="9281160" y="118872"/>
            <a:ext cx="2743200" cy="274320"/>
          </a:xfrm>
          <a:prstGeom prst="rect">
            <a:avLst/>
          </a:prstGeom>
          <a:noFill/>
        </p:spPr>
        <p:txBody>
          <a:bodyPr wrap="square">
            <a:spAutoFit/>
          </a:bodyPr>
          <a:lstStyle/>
          <a:p>
            <a:pPr algn="r"/>
            <a:r>
              <a:rPr sz="1000" b="0" i="0">
                <a:solidFill>
                  <a:srgbClr val="C4B5FD"/>
                </a:solidFill>
              </a:rPr>
              <a:t>Architecture Overview</a:t>
            </a:r>
          </a:p>
        </p:txBody>
      </p:sp>
      <p:sp>
        <p:nvSpPr>
          <p:cNvPr id="5" name="TextBox 4"/>
          <p:cNvSpPr txBox="1"/>
          <p:nvPr/>
        </p:nvSpPr>
        <p:spPr>
          <a:xfrm>
            <a:off x="91440" y="548640"/>
            <a:ext cx="2743200" cy="228600"/>
          </a:xfrm>
          <a:prstGeom prst="rect">
            <a:avLst/>
          </a:prstGeom>
          <a:noFill/>
        </p:spPr>
        <p:txBody>
          <a:bodyPr wrap="square">
            <a:spAutoFit/>
          </a:bodyPr>
          <a:lstStyle/>
          <a:p>
            <a:pPr algn="l"/>
            <a:r>
              <a:rPr sz="800" b="1" i="0">
                <a:solidFill>
                  <a:srgbClr val="6B7280"/>
                </a:solidFill>
              </a:rPr>
              <a:t>① Incident List (ServiceNow-style)</a:t>
            </a:r>
          </a:p>
        </p:txBody>
      </p:sp>
      <p:sp>
        <p:nvSpPr>
          <p:cNvPr id="6" name="TextBox 5"/>
          <p:cNvSpPr txBox="1"/>
          <p:nvPr/>
        </p:nvSpPr>
        <p:spPr>
          <a:xfrm>
            <a:off x="3017520" y="548640"/>
            <a:ext cx="4663440" cy="228600"/>
          </a:xfrm>
          <a:prstGeom prst="rect">
            <a:avLst/>
          </a:prstGeom>
          <a:noFill/>
        </p:spPr>
        <p:txBody>
          <a:bodyPr wrap="square">
            <a:spAutoFit/>
          </a:bodyPr>
          <a:lstStyle/>
          <a:p>
            <a:pPr algn="l"/>
            <a:r>
              <a:rPr sz="800" b="1" i="0">
                <a:solidFill>
                  <a:srgbClr val="6B7280"/>
                </a:solidFill>
              </a:rPr>
              <a:t>② Ticket Details + Agent Results</a:t>
            </a:r>
          </a:p>
        </p:txBody>
      </p:sp>
      <p:sp>
        <p:nvSpPr>
          <p:cNvPr id="7" name="TextBox 6"/>
          <p:cNvSpPr txBox="1"/>
          <p:nvPr/>
        </p:nvSpPr>
        <p:spPr>
          <a:xfrm>
            <a:off x="7863840" y="548640"/>
            <a:ext cx="4160520" cy="228600"/>
          </a:xfrm>
          <a:prstGeom prst="rect">
            <a:avLst/>
          </a:prstGeom>
          <a:noFill/>
        </p:spPr>
        <p:txBody>
          <a:bodyPr wrap="square">
            <a:spAutoFit/>
          </a:bodyPr>
          <a:lstStyle/>
          <a:p>
            <a:pPr algn="l"/>
            <a:r>
              <a:rPr sz="800" b="1" i="0">
                <a:solidFill>
                  <a:srgbClr val="6B7280"/>
                </a:solidFill>
              </a:rPr>
              <a:t>③ Streaming Chat</a:t>
            </a:r>
          </a:p>
        </p:txBody>
      </p:sp>
      <p:cxnSp>
        <p:nvCxnSpPr>
          <p:cNvPr id="8" name="Connector 7"/>
          <p:cNvCxnSpPr/>
          <p:nvPr/>
        </p:nvCxnSpPr>
        <p:spPr>
          <a:xfrm>
            <a:off x="2926080" y="502920"/>
            <a:ext cx="0" cy="6309360"/>
          </a:xfrm>
          <a:prstGeom prst="line">
            <a:avLst/>
          </a:prstGeom>
          <a:ln w="12700">
            <a:solidFill>
              <a:srgbClr val="9CA3AF"/>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502920"/>
            <a:ext cx="0" cy="6309360"/>
          </a:xfrm>
          <a:prstGeom prst="line">
            <a:avLst/>
          </a:prstGeom>
          <a:ln w="12700">
            <a:solidFill>
              <a:srgbClr val="9CA3AF"/>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5720" y="777240"/>
            <a:ext cx="2834640" cy="5989320"/>
          </a:xfrm>
          <a:prstGeom prst="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8" y="822960"/>
            <a:ext cx="420624" cy="20116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0">
                <a:solidFill>
                  <a:srgbClr val="FFFFFF"/>
                </a:solidFill>
              </a:rPr>
              <a:t>All</a:t>
            </a:r>
          </a:p>
        </p:txBody>
      </p:sp>
      <p:sp>
        <p:nvSpPr>
          <p:cNvPr id="12" name="Rectangle 11"/>
          <p:cNvSpPr/>
          <p:nvPr/>
        </p:nvSpPr>
        <p:spPr>
          <a:xfrm>
            <a:off x="576072" y="822960"/>
            <a:ext cx="420624" cy="201168"/>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0">
                <a:solidFill>
                  <a:srgbClr val="7C3AED"/>
                </a:solidFill>
              </a:rPr>
              <a:t>Open</a:t>
            </a:r>
          </a:p>
        </p:txBody>
      </p:sp>
      <p:sp>
        <p:nvSpPr>
          <p:cNvPr id="13" name="Rectangle 12"/>
          <p:cNvSpPr/>
          <p:nvPr/>
        </p:nvSpPr>
        <p:spPr>
          <a:xfrm>
            <a:off x="1042416" y="822960"/>
            <a:ext cx="512064" cy="201168"/>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0">
                <a:solidFill>
                  <a:srgbClr val="7C3AED"/>
                </a:solidFill>
              </a:rPr>
              <a:t>Investigating</a:t>
            </a:r>
          </a:p>
        </p:txBody>
      </p:sp>
      <p:sp>
        <p:nvSpPr>
          <p:cNvPr id="14" name="Rectangle 13"/>
          <p:cNvSpPr/>
          <p:nvPr/>
        </p:nvSpPr>
        <p:spPr>
          <a:xfrm>
            <a:off x="1600200" y="822960"/>
            <a:ext cx="420624" cy="201168"/>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0">
                <a:solidFill>
                  <a:srgbClr val="7C3AED"/>
                </a:solidFill>
              </a:rPr>
              <a:t>Resolved</a:t>
            </a:r>
          </a:p>
        </p:txBody>
      </p:sp>
      <p:sp>
        <p:nvSpPr>
          <p:cNvPr id="15" name="Rectangle 14"/>
          <p:cNvSpPr/>
          <p:nvPr/>
        </p:nvSpPr>
        <p:spPr>
          <a:xfrm>
            <a:off x="91440" y="1078992"/>
            <a:ext cx="2743200" cy="713232"/>
          </a:xfrm>
          <a:prstGeom prst="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1440" y="1078992"/>
            <a:ext cx="54864" cy="71323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1168" y="1106424"/>
            <a:ext cx="640080" cy="146304"/>
          </a:xfrm>
          <a:prstGeom prst="rect">
            <a:avLst/>
          </a:prstGeom>
          <a:noFill/>
        </p:spPr>
        <p:txBody>
          <a:bodyPr wrap="square">
            <a:spAutoFit/>
          </a:bodyPr>
          <a:lstStyle/>
          <a:p>
            <a:pPr algn="l"/>
            <a:r>
              <a:rPr sz="750" b="1" i="0">
                <a:solidFill>
                  <a:srgbClr val="7C3AED"/>
                </a:solidFill>
              </a:rPr>
              <a:t>INC001</a:t>
            </a:r>
          </a:p>
        </p:txBody>
      </p:sp>
      <p:sp>
        <p:nvSpPr>
          <p:cNvPr id="18" name="Rectangle 17"/>
          <p:cNvSpPr/>
          <p:nvPr/>
        </p:nvSpPr>
        <p:spPr>
          <a:xfrm>
            <a:off x="2148840" y="1115568"/>
            <a:ext cx="621792" cy="137160"/>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50" b="0">
                <a:solidFill>
                  <a:srgbClr val="D97706"/>
                </a:solidFill>
              </a:rPr>
              <a:t>In Progress</a:t>
            </a:r>
          </a:p>
        </p:txBody>
      </p:sp>
      <p:sp>
        <p:nvSpPr>
          <p:cNvPr id="19" name="TextBox 18"/>
          <p:cNvSpPr txBox="1"/>
          <p:nvPr/>
        </p:nvSpPr>
        <p:spPr>
          <a:xfrm>
            <a:off x="201168" y="1252728"/>
            <a:ext cx="2560320" cy="201168"/>
          </a:xfrm>
          <a:prstGeom prst="rect">
            <a:avLst/>
          </a:prstGeom>
          <a:noFill/>
        </p:spPr>
        <p:txBody>
          <a:bodyPr wrap="square">
            <a:spAutoFit/>
          </a:bodyPr>
          <a:lstStyle/>
          <a:p>
            <a:pPr algn="l"/>
            <a:r>
              <a:rPr sz="800" b="0" i="0">
                <a:solidFill>
                  <a:srgbClr val="1F2937"/>
                </a:solidFill>
              </a:rPr>
              <a:t>Memory leak in auth service</a:t>
            </a:r>
          </a:p>
        </p:txBody>
      </p:sp>
      <p:sp>
        <p:nvSpPr>
          <p:cNvPr id="20" name="Rectangle 19"/>
          <p:cNvSpPr/>
          <p:nvPr/>
        </p:nvSpPr>
        <p:spPr>
          <a:xfrm>
            <a:off x="201168" y="1453896"/>
            <a:ext cx="685800" cy="128016"/>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b="0">
                <a:solidFill>
                  <a:srgbClr val="D97706"/>
                </a:solidFill>
              </a:rPr>
              <a:t>3 - Moderate</a:t>
            </a:r>
          </a:p>
        </p:txBody>
      </p:sp>
      <p:sp>
        <p:nvSpPr>
          <p:cNvPr id="21" name="TextBox 20"/>
          <p:cNvSpPr txBox="1"/>
          <p:nvPr/>
        </p:nvSpPr>
        <p:spPr>
          <a:xfrm>
            <a:off x="201168" y="1600200"/>
            <a:ext cx="1371600" cy="128016"/>
          </a:xfrm>
          <a:prstGeom prst="rect">
            <a:avLst/>
          </a:prstGeom>
          <a:noFill/>
        </p:spPr>
        <p:txBody>
          <a:bodyPr wrap="square">
            <a:spAutoFit/>
          </a:bodyPr>
          <a:lstStyle/>
          <a:p>
            <a:pPr algn="l"/>
            <a:r>
              <a:rPr sz="650" b="0" i="0">
                <a:solidFill>
                  <a:srgbClr val="6B7280"/>
                </a:solidFill>
              </a:rPr>
              <a:t>👤 search-team</a:t>
            </a:r>
          </a:p>
        </p:txBody>
      </p:sp>
      <p:sp>
        <p:nvSpPr>
          <p:cNvPr id="22" name="TextBox 21"/>
          <p:cNvSpPr txBox="1"/>
          <p:nvPr/>
        </p:nvSpPr>
        <p:spPr>
          <a:xfrm>
            <a:off x="1627632" y="1600200"/>
            <a:ext cx="1143000" cy="128016"/>
          </a:xfrm>
          <a:prstGeom prst="rect">
            <a:avLst/>
          </a:prstGeom>
          <a:noFill/>
        </p:spPr>
        <p:txBody>
          <a:bodyPr wrap="square">
            <a:spAutoFit/>
          </a:bodyPr>
          <a:lstStyle/>
          <a:p>
            <a:pPr algn="r"/>
            <a:r>
              <a:rPr sz="650" b="0" i="0">
                <a:solidFill>
                  <a:srgbClr val="6B7280"/>
                </a:solidFill>
              </a:rPr>
              <a:t>📅 Jan 17, 2026</a:t>
            </a:r>
          </a:p>
        </p:txBody>
      </p:sp>
      <p:sp>
        <p:nvSpPr>
          <p:cNvPr id="23" name="Rectangle 22"/>
          <p:cNvSpPr/>
          <p:nvPr/>
        </p:nvSpPr>
        <p:spPr>
          <a:xfrm>
            <a:off x="91440" y="1837944"/>
            <a:ext cx="2743200" cy="713232"/>
          </a:xfrm>
          <a:prstGeom prst="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1440" y="1837944"/>
            <a:ext cx="54864" cy="71323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01168" y="1865376"/>
            <a:ext cx="640080" cy="146304"/>
          </a:xfrm>
          <a:prstGeom prst="rect">
            <a:avLst/>
          </a:prstGeom>
          <a:noFill/>
        </p:spPr>
        <p:txBody>
          <a:bodyPr wrap="square">
            <a:spAutoFit/>
          </a:bodyPr>
          <a:lstStyle/>
          <a:p>
            <a:pPr algn="l"/>
            <a:r>
              <a:rPr sz="750" b="1" i="0">
                <a:solidFill>
                  <a:srgbClr val="7C3AED"/>
                </a:solidFill>
              </a:rPr>
              <a:t>INC002</a:t>
            </a:r>
          </a:p>
        </p:txBody>
      </p:sp>
      <p:sp>
        <p:nvSpPr>
          <p:cNvPr id="26" name="Rectangle 25"/>
          <p:cNvSpPr/>
          <p:nvPr/>
        </p:nvSpPr>
        <p:spPr>
          <a:xfrm>
            <a:off x="2148840" y="1874520"/>
            <a:ext cx="621792" cy="13716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50" b="0">
                <a:solidFill>
                  <a:srgbClr val="2563EB"/>
                </a:solidFill>
              </a:rPr>
              <a:t>New</a:t>
            </a:r>
          </a:p>
        </p:txBody>
      </p:sp>
      <p:sp>
        <p:nvSpPr>
          <p:cNvPr id="27" name="TextBox 26"/>
          <p:cNvSpPr txBox="1"/>
          <p:nvPr/>
        </p:nvSpPr>
        <p:spPr>
          <a:xfrm>
            <a:off x="201168" y="2011680"/>
            <a:ext cx="2560320" cy="201168"/>
          </a:xfrm>
          <a:prstGeom prst="rect">
            <a:avLst/>
          </a:prstGeom>
          <a:noFill/>
        </p:spPr>
        <p:txBody>
          <a:bodyPr wrap="square">
            <a:spAutoFit/>
          </a:bodyPr>
          <a:lstStyle/>
          <a:p>
            <a:pPr algn="l"/>
            <a:r>
              <a:rPr sz="800" b="0" i="0">
                <a:solidFill>
                  <a:srgbClr val="1F2937"/>
                </a:solidFill>
              </a:rPr>
              <a:t>API response latency spike</a:t>
            </a:r>
          </a:p>
        </p:txBody>
      </p:sp>
      <p:sp>
        <p:nvSpPr>
          <p:cNvPr id="28" name="Rectangle 27"/>
          <p:cNvSpPr/>
          <p:nvPr/>
        </p:nvSpPr>
        <p:spPr>
          <a:xfrm>
            <a:off x="201168" y="2212848"/>
            <a:ext cx="685800" cy="128016"/>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b="0">
                <a:solidFill>
                  <a:srgbClr val="D97706"/>
                </a:solidFill>
              </a:rPr>
              <a:t>3 - Moderate</a:t>
            </a:r>
          </a:p>
        </p:txBody>
      </p:sp>
      <p:sp>
        <p:nvSpPr>
          <p:cNvPr id="29" name="TextBox 28"/>
          <p:cNvSpPr txBox="1"/>
          <p:nvPr/>
        </p:nvSpPr>
        <p:spPr>
          <a:xfrm>
            <a:off x="201168" y="2359152"/>
            <a:ext cx="1371600" cy="128016"/>
          </a:xfrm>
          <a:prstGeom prst="rect">
            <a:avLst/>
          </a:prstGeom>
          <a:noFill/>
        </p:spPr>
        <p:txBody>
          <a:bodyPr wrap="square">
            <a:spAutoFit/>
          </a:bodyPr>
          <a:lstStyle/>
          <a:p>
            <a:pPr algn="l"/>
            <a:r>
              <a:rPr sz="650" b="0" i="0">
                <a:solidFill>
                  <a:srgbClr val="6B7280"/>
                </a:solidFill>
              </a:rPr>
              <a:t>👤 dba-team</a:t>
            </a:r>
          </a:p>
        </p:txBody>
      </p:sp>
      <p:sp>
        <p:nvSpPr>
          <p:cNvPr id="30" name="TextBox 29"/>
          <p:cNvSpPr txBox="1"/>
          <p:nvPr/>
        </p:nvSpPr>
        <p:spPr>
          <a:xfrm>
            <a:off x="1627632" y="2359152"/>
            <a:ext cx="1143000" cy="128016"/>
          </a:xfrm>
          <a:prstGeom prst="rect">
            <a:avLst/>
          </a:prstGeom>
          <a:noFill/>
        </p:spPr>
        <p:txBody>
          <a:bodyPr wrap="square">
            <a:spAutoFit/>
          </a:bodyPr>
          <a:lstStyle/>
          <a:p>
            <a:pPr algn="r"/>
            <a:r>
              <a:rPr sz="650" b="0" i="0">
                <a:solidFill>
                  <a:srgbClr val="6B7280"/>
                </a:solidFill>
              </a:rPr>
              <a:t>📅 Jan 15, 2026</a:t>
            </a:r>
          </a:p>
        </p:txBody>
      </p:sp>
      <p:sp>
        <p:nvSpPr>
          <p:cNvPr id="31" name="Rectangle 30"/>
          <p:cNvSpPr/>
          <p:nvPr/>
        </p:nvSpPr>
        <p:spPr>
          <a:xfrm>
            <a:off x="91440" y="2596896"/>
            <a:ext cx="2743200" cy="713232"/>
          </a:xfrm>
          <a:prstGeom prst="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1440" y="2596896"/>
            <a:ext cx="54864" cy="71323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01168" y="2624328"/>
            <a:ext cx="640080" cy="146304"/>
          </a:xfrm>
          <a:prstGeom prst="rect">
            <a:avLst/>
          </a:prstGeom>
          <a:noFill/>
        </p:spPr>
        <p:txBody>
          <a:bodyPr wrap="square">
            <a:spAutoFit/>
          </a:bodyPr>
          <a:lstStyle/>
          <a:p>
            <a:pPr algn="l"/>
            <a:r>
              <a:rPr sz="750" b="1" i="0">
                <a:solidFill>
                  <a:srgbClr val="7C3AED"/>
                </a:solidFill>
              </a:rPr>
              <a:t>INC003</a:t>
            </a:r>
          </a:p>
        </p:txBody>
      </p:sp>
      <p:sp>
        <p:nvSpPr>
          <p:cNvPr id="34" name="Rectangle 33"/>
          <p:cNvSpPr/>
          <p:nvPr/>
        </p:nvSpPr>
        <p:spPr>
          <a:xfrm>
            <a:off x="2148840" y="2633472"/>
            <a:ext cx="621792" cy="13716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50" b="0">
                <a:solidFill>
                  <a:srgbClr val="2563EB"/>
                </a:solidFill>
              </a:rPr>
              <a:t>New</a:t>
            </a:r>
          </a:p>
        </p:txBody>
      </p:sp>
      <p:sp>
        <p:nvSpPr>
          <p:cNvPr id="35" name="TextBox 34"/>
          <p:cNvSpPr txBox="1"/>
          <p:nvPr/>
        </p:nvSpPr>
        <p:spPr>
          <a:xfrm>
            <a:off x="201168" y="2770632"/>
            <a:ext cx="2560320" cy="201168"/>
          </a:xfrm>
          <a:prstGeom prst="rect">
            <a:avLst/>
          </a:prstGeom>
          <a:noFill/>
        </p:spPr>
        <p:txBody>
          <a:bodyPr wrap="square">
            <a:spAutoFit/>
          </a:bodyPr>
          <a:lstStyle/>
          <a:p>
            <a:pPr algn="l"/>
            <a:r>
              <a:rPr sz="800" b="0" i="0">
                <a:solidFill>
                  <a:srgbClr val="1F2937"/>
                </a:solidFill>
              </a:rPr>
              <a:t>Log aggregation pipeline broken</a:t>
            </a:r>
          </a:p>
        </p:txBody>
      </p:sp>
      <p:sp>
        <p:nvSpPr>
          <p:cNvPr id="36" name="Rectangle 35"/>
          <p:cNvSpPr/>
          <p:nvPr/>
        </p:nvSpPr>
        <p:spPr>
          <a:xfrm>
            <a:off x="201168" y="2971800"/>
            <a:ext cx="685800" cy="128016"/>
          </a:xfrm>
          <a:prstGeom prst="rect">
            <a:avLst/>
          </a:prstGeom>
          <a:solidFill>
            <a:srgbClr val="FFEDD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b="0">
                <a:solidFill>
                  <a:srgbClr val="EA580C"/>
                </a:solidFill>
              </a:rPr>
              <a:t>2 - High</a:t>
            </a:r>
          </a:p>
        </p:txBody>
      </p:sp>
      <p:sp>
        <p:nvSpPr>
          <p:cNvPr id="37" name="TextBox 36"/>
          <p:cNvSpPr txBox="1"/>
          <p:nvPr/>
        </p:nvSpPr>
        <p:spPr>
          <a:xfrm>
            <a:off x="201168" y="3118104"/>
            <a:ext cx="1371600" cy="128016"/>
          </a:xfrm>
          <a:prstGeom prst="rect">
            <a:avLst/>
          </a:prstGeom>
          <a:noFill/>
        </p:spPr>
        <p:txBody>
          <a:bodyPr wrap="square">
            <a:spAutoFit/>
          </a:bodyPr>
          <a:lstStyle/>
          <a:p>
            <a:pPr algn="l"/>
            <a:r>
              <a:rPr sz="650" b="0" i="0">
                <a:solidFill>
                  <a:srgbClr val="6B7280"/>
                </a:solidFill>
              </a:rPr>
              <a:t>👤 payments-team</a:t>
            </a:r>
          </a:p>
        </p:txBody>
      </p:sp>
      <p:sp>
        <p:nvSpPr>
          <p:cNvPr id="38" name="TextBox 37"/>
          <p:cNvSpPr txBox="1"/>
          <p:nvPr/>
        </p:nvSpPr>
        <p:spPr>
          <a:xfrm>
            <a:off x="1627632" y="3118104"/>
            <a:ext cx="1143000" cy="128016"/>
          </a:xfrm>
          <a:prstGeom prst="rect">
            <a:avLst/>
          </a:prstGeom>
          <a:noFill/>
        </p:spPr>
        <p:txBody>
          <a:bodyPr wrap="square">
            <a:spAutoFit/>
          </a:bodyPr>
          <a:lstStyle/>
          <a:p>
            <a:pPr algn="r"/>
            <a:r>
              <a:rPr sz="650" b="0" i="0">
                <a:solidFill>
                  <a:srgbClr val="6B7280"/>
                </a:solidFill>
              </a:rPr>
              <a:t>📅 Jan 19, 2026</a:t>
            </a:r>
          </a:p>
        </p:txBody>
      </p:sp>
      <p:sp>
        <p:nvSpPr>
          <p:cNvPr id="39" name="Rectangle 38"/>
          <p:cNvSpPr/>
          <p:nvPr/>
        </p:nvSpPr>
        <p:spPr>
          <a:xfrm>
            <a:off x="91440" y="3355848"/>
            <a:ext cx="2743200" cy="713232"/>
          </a:xfrm>
          <a:prstGeom prst="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1440" y="3355848"/>
            <a:ext cx="54864" cy="7132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01168" y="3383280"/>
            <a:ext cx="640080" cy="146304"/>
          </a:xfrm>
          <a:prstGeom prst="rect">
            <a:avLst/>
          </a:prstGeom>
          <a:noFill/>
        </p:spPr>
        <p:txBody>
          <a:bodyPr wrap="square">
            <a:spAutoFit/>
          </a:bodyPr>
          <a:lstStyle/>
          <a:p>
            <a:pPr algn="l"/>
            <a:r>
              <a:rPr sz="750" b="1" i="0">
                <a:solidFill>
                  <a:srgbClr val="7C3AED"/>
                </a:solidFill>
              </a:rPr>
              <a:t>INC004</a:t>
            </a:r>
          </a:p>
        </p:txBody>
      </p:sp>
      <p:sp>
        <p:nvSpPr>
          <p:cNvPr id="42" name="Rectangle 41"/>
          <p:cNvSpPr/>
          <p:nvPr/>
        </p:nvSpPr>
        <p:spPr>
          <a:xfrm>
            <a:off x="2148840" y="3392424"/>
            <a:ext cx="621792" cy="137160"/>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50" b="0">
                <a:solidFill>
                  <a:srgbClr val="2563EB"/>
                </a:solidFill>
              </a:rPr>
              <a:t>New</a:t>
            </a:r>
          </a:p>
        </p:txBody>
      </p:sp>
      <p:sp>
        <p:nvSpPr>
          <p:cNvPr id="43" name="TextBox 42"/>
          <p:cNvSpPr txBox="1"/>
          <p:nvPr/>
        </p:nvSpPr>
        <p:spPr>
          <a:xfrm>
            <a:off x="201168" y="3529584"/>
            <a:ext cx="2560320" cy="201168"/>
          </a:xfrm>
          <a:prstGeom prst="rect">
            <a:avLst/>
          </a:prstGeom>
          <a:noFill/>
        </p:spPr>
        <p:txBody>
          <a:bodyPr wrap="square">
            <a:spAutoFit/>
          </a:bodyPr>
          <a:lstStyle/>
          <a:p>
            <a:pPr algn="l"/>
            <a:r>
              <a:rPr sz="800" b="0" i="0">
                <a:solidFill>
                  <a:srgbClr val="1F2937"/>
                </a:solidFill>
              </a:rPr>
              <a:t>Redis cache connection failures</a:t>
            </a:r>
          </a:p>
        </p:txBody>
      </p:sp>
      <p:sp>
        <p:nvSpPr>
          <p:cNvPr id="44" name="Rectangle 43"/>
          <p:cNvSpPr/>
          <p:nvPr/>
        </p:nvSpPr>
        <p:spPr>
          <a:xfrm>
            <a:off x="201168" y="3730752"/>
            <a:ext cx="685800" cy="128016"/>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b="0">
                <a:solidFill>
                  <a:srgbClr val="2563EB"/>
                </a:solidFill>
              </a:rPr>
              <a:t>4 - Low</a:t>
            </a:r>
          </a:p>
        </p:txBody>
      </p:sp>
      <p:sp>
        <p:nvSpPr>
          <p:cNvPr id="45" name="TextBox 44"/>
          <p:cNvSpPr txBox="1"/>
          <p:nvPr/>
        </p:nvSpPr>
        <p:spPr>
          <a:xfrm>
            <a:off x="201168" y="3877056"/>
            <a:ext cx="1371600" cy="128016"/>
          </a:xfrm>
          <a:prstGeom prst="rect">
            <a:avLst/>
          </a:prstGeom>
          <a:noFill/>
        </p:spPr>
        <p:txBody>
          <a:bodyPr wrap="square">
            <a:spAutoFit/>
          </a:bodyPr>
          <a:lstStyle/>
          <a:p>
            <a:pPr algn="l"/>
            <a:r>
              <a:rPr sz="650" b="0" i="0">
                <a:solidFill>
                  <a:srgbClr val="6B7280"/>
                </a:solidFill>
              </a:rPr>
              <a:t>👤 ops-team</a:t>
            </a:r>
          </a:p>
        </p:txBody>
      </p:sp>
      <p:sp>
        <p:nvSpPr>
          <p:cNvPr id="46" name="TextBox 45"/>
          <p:cNvSpPr txBox="1"/>
          <p:nvPr/>
        </p:nvSpPr>
        <p:spPr>
          <a:xfrm>
            <a:off x="1627632" y="3877056"/>
            <a:ext cx="1143000" cy="128016"/>
          </a:xfrm>
          <a:prstGeom prst="rect">
            <a:avLst/>
          </a:prstGeom>
          <a:noFill/>
        </p:spPr>
        <p:txBody>
          <a:bodyPr wrap="square">
            <a:spAutoFit/>
          </a:bodyPr>
          <a:lstStyle/>
          <a:p>
            <a:pPr algn="r"/>
            <a:r>
              <a:rPr sz="650" b="0" i="0">
                <a:solidFill>
                  <a:srgbClr val="6B7280"/>
                </a:solidFill>
              </a:rPr>
              <a:t>📅 Jan 12, 2026</a:t>
            </a:r>
          </a:p>
        </p:txBody>
      </p:sp>
      <p:sp>
        <p:nvSpPr>
          <p:cNvPr id="47" name="Rectangle 46"/>
          <p:cNvSpPr/>
          <p:nvPr/>
        </p:nvSpPr>
        <p:spPr>
          <a:xfrm>
            <a:off x="91440" y="4114800"/>
            <a:ext cx="2743200" cy="713232"/>
          </a:xfrm>
          <a:prstGeom prst="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1440" y="4114800"/>
            <a:ext cx="54864" cy="7132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01168" y="4142232"/>
            <a:ext cx="640080" cy="146304"/>
          </a:xfrm>
          <a:prstGeom prst="rect">
            <a:avLst/>
          </a:prstGeom>
          <a:noFill/>
        </p:spPr>
        <p:txBody>
          <a:bodyPr wrap="square">
            <a:spAutoFit/>
          </a:bodyPr>
          <a:lstStyle/>
          <a:p>
            <a:pPr algn="l"/>
            <a:r>
              <a:rPr sz="750" b="1" i="0">
                <a:solidFill>
                  <a:srgbClr val="7C3AED"/>
                </a:solidFill>
              </a:rPr>
              <a:t>INC005</a:t>
            </a:r>
          </a:p>
        </p:txBody>
      </p:sp>
      <p:sp>
        <p:nvSpPr>
          <p:cNvPr id="50" name="Rectangle 49"/>
          <p:cNvSpPr/>
          <p:nvPr/>
        </p:nvSpPr>
        <p:spPr>
          <a:xfrm>
            <a:off x="2148840" y="4151376"/>
            <a:ext cx="621792" cy="137160"/>
          </a:xfrm>
          <a:prstGeom prst="rect">
            <a:avLst/>
          </a:prstGeom>
          <a:solidFill>
            <a:srgbClr val="DCFCE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50" b="0">
                <a:solidFill>
                  <a:srgbClr val="166534"/>
                </a:solidFill>
              </a:rPr>
              <a:t>Resolved</a:t>
            </a:r>
          </a:p>
        </p:txBody>
      </p:sp>
      <p:sp>
        <p:nvSpPr>
          <p:cNvPr id="51" name="TextBox 50"/>
          <p:cNvSpPr txBox="1"/>
          <p:nvPr/>
        </p:nvSpPr>
        <p:spPr>
          <a:xfrm>
            <a:off x="201168" y="4288536"/>
            <a:ext cx="2560320" cy="201168"/>
          </a:xfrm>
          <a:prstGeom prst="rect">
            <a:avLst/>
          </a:prstGeom>
          <a:noFill/>
        </p:spPr>
        <p:txBody>
          <a:bodyPr wrap="square">
            <a:spAutoFit/>
          </a:bodyPr>
          <a:lstStyle/>
          <a:p>
            <a:pPr algn="l"/>
            <a:r>
              <a:rPr sz="800" b="0" i="0">
                <a:solidFill>
                  <a:srgbClr val="1F2937"/>
                </a:solidFill>
              </a:rPr>
              <a:t>Rate limiting misconfiguration</a:t>
            </a:r>
          </a:p>
        </p:txBody>
      </p:sp>
      <p:sp>
        <p:nvSpPr>
          <p:cNvPr id="52" name="Rectangle 51"/>
          <p:cNvSpPr/>
          <p:nvPr/>
        </p:nvSpPr>
        <p:spPr>
          <a:xfrm>
            <a:off x="201168" y="4489704"/>
            <a:ext cx="685800" cy="128016"/>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 b="0">
                <a:solidFill>
                  <a:srgbClr val="2563EB"/>
                </a:solidFill>
              </a:rPr>
              <a:t>4 - Low</a:t>
            </a:r>
          </a:p>
        </p:txBody>
      </p:sp>
      <p:sp>
        <p:nvSpPr>
          <p:cNvPr id="53" name="TextBox 52"/>
          <p:cNvSpPr txBox="1"/>
          <p:nvPr/>
        </p:nvSpPr>
        <p:spPr>
          <a:xfrm>
            <a:off x="201168" y="4636008"/>
            <a:ext cx="1371600" cy="128016"/>
          </a:xfrm>
          <a:prstGeom prst="rect">
            <a:avLst/>
          </a:prstGeom>
          <a:noFill/>
        </p:spPr>
        <p:txBody>
          <a:bodyPr wrap="square">
            <a:spAutoFit/>
          </a:bodyPr>
          <a:lstStyle/>
          <a:p>
            <a:pPr algn="l"/>
            <a:r>
              <a:rPr sz="650" b="0" i="0">
                <a:solidFill>
                  <a:srgbClr val="6B7280"/>
                </a:solidFill>
              </a:rPr>
              <a:t>👤 api-team</a:t>
            </a:r>
          </a:p>
        </p:txBody>
      </p:sp>
      <p:sp>
        <p:nvSpPr>
          <p:cNvPr id="54" name="TextBox 53"/>
          <p:cNvSpPr txBox="1"/>
          <p:nvPr/>
        </p:nvSpPr>
        <p:spPr>
          <a:xfrm>
            <a:off x="1627632" y="4636008"/>
            <a:ext cx="1143000" cy="128016"/>
          </a:xfrm>
          <a:prstGeom prst="rect">
            <a:avLst/>
          </a:prstGeom>
          <a:noFill/>
        </p:spPr>
        <p:txBody>
          <a:bodyPr wrap="square">
            <a:spAutoFit/>
          </a:bodyPr>
          <a:lstStyle/>
          <a:p>
            <a:pPr algn="r"/>
            <a:r>
              <a:rPr sz="650" b="0" i="0">
                <a:solidFill>
                  <a:srgbClr val="6B7280"/>
                </a:solidFill>
              </a:rPr>
              <a:t>📅 Jan 11, 2026</a:t>
            </a:r>
          </a:p>
        </p:txBody>
      </p:sp>
      <p:sp>
        <p:nvSpPr>
          <p:cNvPr id="55" name="TextBox 54"/>
          <p:cNvSpPr txBox="1"/>
          <p:nvPr/>
        </p:nvSpPr>
        <p:spPr>
          <a:xfrm>
            <a:off x="91440" y="4919472"/>
            <a:ext cx="2743200" cy="182880"/>
          </a:xfrm>
          <a:prstGeom prst="rect">
            <a:avLst/>
          </a:prstGeom>
          <a:noFill/>
        </p:spPr>
        <p:txBody>
          <a:bodyPr wrap="square">
            <a:spAutoFit/>
          </a:bodyPr>
          <a:lstStyle/>
          <a:p>
            <a:pPr algn="ctr"/>
            <a:r>
              <a:rPr sz="750" b="0" i="1">
                <a:solidFill>
                  <a:srgbClr val="6B7280"/>
                </a:solidFill>
              </a:rPr>
              <a:t>⋯  25 more incidents</a:t>
            </a:r>
          </a:p>
        </p:txBody>
      </p:sp>
      <p:sp>
        <p:nvSpPr>
          <p:cNvPr id="56" name="Rectangle 55"/>
          <p:cNvSpPr/>
          <p:nvPr/>
        </p:nvSpPr>
        <p:spPr>
          <a:xfrm>
            <a:off x="3017520" y="777240"/>
            <a:ext cx="4617720" cy="5989320"/>
          </a:xfrm>
          <a:prstGeom prst="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3017520" y="777240"/>
            <a:ext cx="4617720" cy="457200"/>
          </a:xfrm>
          <a:prstGeom prst="rect">
            <a:avLst/>
          </a:prstGeom>
          <a:solidFill>
            <a:srgbClr val="F5F3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108960" y="822960"/>
            <a:ext cx="3657600" cy="228600"/>
          </a:xfrm>
          <a:prstGeom prst="rect">
            <a:avLst/>
          </a:prstGeom>
          <a:noFill/>
        </p:spPr>
        <p:txBody>
          <a:bodyPr wrap="square">
            <a:spAutoFit/>
          </a:bodyPr>
          <a:lstStyle/>
          <a:p>
            <a:pPr algn="l"/>
            <a:r>
              <a:rPr sz="1000" b="1" i="0">
                <a:solidFill>
                  <a:srgbClr val="1F2937"/>
                </a:solidFill>
              </a:rPr>
              <a:t>INC001 — Memory leak in auth service</a:t>
            </a:r>
          </a:p>
        </p:txBody>
      </p:sp>
      <p:sp>
        <p:nvSpPr>
          <p:cNvPr id="59" name="TextBox 58"/>
          <p:cNvSpPr txBox="1"/>
          <p:nvPr/>
        </p:nvSpPr>
        <p:spPr>
          <a:xfrm>
            <a:off x="3108960" y="1051560"/>
            <a:ext cx="4114800" cy="164592"/>
          </a:xfrm>
          <a:prstGeom prst="rect">
            <a:avLst/>
          </a:prstGeom>
          <a:noFill/>
        </p:spPr>
        <p:txBody>
          <a:bodyPr wrap="square">
            <a:spAutoFit/>
          </a:bodyPr>
          <a:lstStyle/>
          <a:p>
            <a:pPr algn="l"/>
            <a:r>
              <a:rPr sz="750" b="0" i="0">
                <a:solidFill>
                  <a:srgbClr val="6B7280"/>
                </a:solidFill>
              </a:rPr>
              <a:t>Severity: Medium  |  Assignee: search-team  |  Opened: Jan 17, 2026</a:t>
            </a:r>
          </a:p>
        </p:txBody>
      </p:sp>
      <p:sp>
        <p:nvSpPr>
          <p:cNvPr id="60" name="Rectangle 59"/>
          <p:cNvSpPr/>
          <p:nvPr/>
        </p:nvSpPr>
        <p:spPr>
          <a:xfrm>
            <a:off x="3108960" y="1280160"/>
            <a:ext cx="713231" cy="20116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1">
                <a:solidFill>
                  <a:srgbClr val="FFFFFF"/>
                </a:solidFill>
              </a:rPr>
              <a:t>ServiceNow</a:t>
            </a:r>
          </a:p>
        </p:txBody>
      </p:sp>
      <p:sp>
        <p:nvSpPr>
          <p:cNvPr id="61" name="Rectangle 60"/>
          <p:cNvSpPr/>
          <p:nvPr/>
        </p:nvSpPr>
        <p:spPr>
          <a:xfrm>
            <a:off x="3840480" y="1280160"/>
            <a:ext cx="713231" cy="20116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0">
                <a:solidFill>
                  <a:srgbClr val="6B7280"/>
                </a:solidFill>
              </a:rPr>
              <a:t>Knowledge Base</a:t>
            </a:r>
          </a:p>
        </p:txBody>
      </p:sp>
      <p:sp>
        <p:nvSpPr>
          <p:cNvPr id="62" name="Rectangle 61"/>
          <p:cNvSpPr/>
          <p:nvPr/>
        </p:nvSpPr>
        <p:spPr>
          <a:xfrm>
            <a:off x="4572000" y="1280160"/>
            <a:ext cx="713231" cy="20116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0">
                <a:solidFill>
                  <a:srgbClr val="6B7280"/>
                </a:solidFill>
              </a:rPr>
              <a:t>Changes</a:t>
            </a:r>
          </a:p>
        </p:txBody>
      </p:sp>
      <p:sp>
        <p:nvSpPr>
          <p:cNvPr id="63" name="Rectangle 62"/>
          <p:cNvSpPr/>
          <p:nvPr/>
        </p:nvSpPr>
        <p:spPr>
          <a:xfrm>
            <a:off x="5303520" y="1280160"/>
            <a:ext cx="713231" cy="20116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0">
                <a:solidFill>
                  <a:srgbClr val="6B7280"/>
                </a:solidFill>
              </a:rPr>
              <a:t>Logs</a:t>
            </a:r>
          </a:p>
        </p:txBody>
      </p:sp>
      <p:sp>
        <p:nvSpPr>
          <p:cNvPr id="64" name="Rectangle 63"/>
          <p:cNvSpPr/>
          <p:nvPr/>
        </p:nvSpPr>
        <p:spPr>
          <a:xfrm>
            <a:off x="6035040" y="1280160"/>
            <a:ext cx="713231" cy="20116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0">
                <a:solidFill>
                  <a:srgbClr val="6B7280"/>
                </a:solidFill>
              </a:rPr>
              <a:t>Events</a:t>
            </a:r>
          </a:p>
        </p:txBody>
      </p:sp>
      <p:sp>
        <p:nvSpPr>
          <p:cNvPr id="65" name="Rectangle 64"/>
          <p:cNvSpPr/>
          <p:nvPr/>
        </p:nvSpPr>
        <p:spPr>
          <a:xfrm>
            <a:off x="6766559" y="1280160"/>
            <a:ext cx="713231" cy="20116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0">
                <a:solidFill>
                  <a:srgbClr val="6B7280"/>
                </a:solidFill>
              </a:rPr>
              <a:t>Remediations</a:t>
            </a:r>
          </a:p>
        </p:txBody>
      </p:sp>
      <p:sp>
        <p:nvSpPr>
          <p:cNvPr id="66" name="Rectangle 65"/>
          <p:cNvSpPr/>
          <p:nvPr/>
        </p:nvSpPr>
        <p:spPr>
          <a:xfrm>
            <a:off x="3090672" y="1527048"/>
            <a:ext cx="4443984" cy="3200400"/>
          </a:xfrm>
          <a:prstGeom prst="rect">
            <a:avLst/>
          </a:prstGeom>
          <a:solidFill>
            <a:srgbClr val="FAFA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182112" y="1600200"/>
            <a:ext cx="2743200" cy="164592"/>
          </a:xfrm>
          <a:prstGeom prst="rect">
            <a:avLst/>
          </a:prstGeom>
          <a:noFill/>
        </p:spPr>
        <p:txBody>
          <a:bodyPr wrap="square">
            <a:spAutoFit/>
          </a:bodyPr>
          <a:lstStyle/>
          <a:p>
            <a:pPr algn="l"/>
            <a:r>
              <a:rPr sz="800" b="1" i="0">
                <a:solidFill>
                  <a:srgbClr val="1F2937"/>
                </a:solidFill>
              </a:rPr>
              <a:t>Similar Incidents</a:t>
            </a:r>
          </a:p>
        </p:txBody>
      </p:sp>
      <p:sp>
        <p:nvSpPr>
          <p:cNvPr id="68" name="Rectangle 67"/>
          <p:cNvSpPr/>
          <p:nvPr/>
        </p:nvSpPr>
        <p:spPr>
          <a:xfrm>
            <a:off x="3127248" y="1801368"/>
            <a:ext cx="4343400" cy="502920"/>
          </a:xfrm>
          <a:prstGeom prst="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200400" y="1856231"/>
            <a:ext cx="502920" cy="146304"/>
          </a:xfrm>
          <a:prstGeom prst="rect">
            <a:avLst/>
          </a:prstGeom>
          <a:noFill/>
        </p:spPr>
        <p:txBody>
          <a:bodyPr wrap="square">
            <a:spAutoFit/>
          </a:bodyPr>
          <a:lstStyle/>
          <a:p>
            <a:pPr algn="l"/>
            <a:r>
              <a:rPr sz="750" b="1" i="0">
                <a:solidFill>
                  <a:srgbClr val="7C3AED"/>
                </a:solidFill>
              </a:rPr>
              <a:t>INC042</a:t>
            </a:r>
          </a:p>
        </p:txBody>
      </p:sp>
      <p:sp>
        <p:nvSpPr>
          <p:cNvPr id="70" name="TextBox 69"/>
          <p:cNvSpPr txBox="1"/>
          <p:nvPr/>
        </p:nvSpPr>
        <p:spPr>
          <a:xfrm>
            <a:off x="3730752" y="1856231"/>
            <a:ext cx="2743200" cy="146304"/>
          </a:xfrm>
          <a:prstGeom prst="rect">
            <a:avLst/>
          </a:prstGeom>
          <a:noFill/>
        </p:spPr>
        <p:txBody>
          <a:bodyPr wrap="square">
            <a:spAutoFit/>
          </a:bodyPr>
          <a:lstStyle/>
          <a:p>
            <a:pPr algn="l"/>
            <a:r>
              <a:rPr sz="750" b="0" i="0">
                <a:solidFill>
                  <a:srgbClr val="1F2937"/>
                </a:solidFill>
              </a:rPr>
              <a:t>Memory leak in reporting service</a:t>
            </a:r>
          </a:p>
        </p:txBody>
      </p:sp>
      <p:sp>
        <p:nvSpPr>
          <p:cNvPr id="71" name="Rectangle 70"/>
          <p:cNvSpPr/>
          <p:nvPr/>
        </p:nvSpPr>
        <p:spPr>
          <a:xfrm>
            <a:off x="6537960" y="1856231"/>
            <a:ext cx="731520" cy="146304"/>
          </a:xfrm>
          <a:prstGeom prst="rect">
            <a:avLst/>
          </a:prstGeom>
          <a:solidFill>
            <a:srgbClr val="DCFCE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50" b="0">
                <a:solidFill>
                  <a:srgbClr val="166534"/>
                </a:solidFill>
              </a:rPr>
              <a:t>92% match</a:t>
            </a:r>
          </a:p>
        </p:txBody>
      </p:sp>
      <p:sp>
        <p:nvSpPr>
          <p:cNvPr id="72" name="TextBox 71"/>
          <p:cNvSpPr txBox="1"/>
          <p:nvPr/>
        </p:nvSpPr>
        <p:spPr>
          <a:xfrm>
            <a:off x="3200400" y="2057400"/>
            <a:ext cx="3931920" cy="146304"/>
          </a:xfrm>
          <a:prstGeom prst="rect">
            <a:avLst/>
          </a:prstGeom>
          <a:noFill/>
        </p:spPr>
        <p:txBody>
          <a:bodyPr wrap="square">
            <a:spAutoFit/>
          </a:bodyPr>
          <a:lstStyle/>
          <a:p>
            <a:pPr algn="l"/>
            <a:r>
              <a:rPr sz="650" b="0" i="1">
                <a:solidFill>
                  <a:srgbClr val="6B7280"/>
                </a:solidFill>
              </a:rPr>
              <a:t>Resolution: Restart auth pods; increase heap to 2 GB</a:t>
            </a:r>
          </a:p>
        </p:txBody>
      </p:sp>
      <p:sp>
        <p:nvSpPr>
          <p:cNvPr id="73" name="Rectangle 72"/>
          <p:cNvSpPr/>
          <p:nvPr/>
        </p:nvSpPr>
        <p:spPr>
          <a:xfrm>
            <a:off x="3127248" y="2368296"/>
            <a:ext cx="4343400" cy="502920"/>
          </a:xfrm>
          <a:prstGeom prst="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200400" y="2423160"/>
            <a:ext cx="502920" cy="146304"/>
          </a:xfrm>
          <a:prstGeom prst="rect">
            <a:avLst/>
          </a:prstGeom>
          <a:noFill/>
        </p:spPr>
        <p:txBody>
          <a:bodyPr wrap="square">
            <a:spAutoFit/>
          </a:bodyPr>
          <a:lstStyle/>
          <a:p>
            <a:pPr algn="l"/>
            <a:r>
              <a:rPr sz="750" b="1" i="0">
                <a:solidFill>
                  <a:srgbClr val="7C3AED"/>
                </a:solidFill>
              </a:rPr>
              <a:t>INC017</a:t>
            </a:r>
          </a:p>
        </p:txBody>
      </p:sp>
      <p:sp>
        <p:nvSpPr>
          <p:cNvPr id="75" name="TextBox 74"/>
          <p:cNvSpPr txBox="1"/>
          <p:nvPr/>
        </p:nvSpPr>
        <p:spPr>
          <a:xfrm>
            <a:off x="3730752" y="2423160"/>
            <a:ext cx="2743200" cy="146304"/>
          </a:xfrm>
          <a:prstGeom prst="rect">
            <a:avLst/>
          </a:prstGeom>
          <a:noFill/>
        </p:spPr>
        <p:txBody>
          <a:bodyPr wrap="square">
            <a:spAutoFit/>
          </a:bodyPr>
          <a:lstStyle/>
          <a:p>
            <a:pPr algn="l"/>
            <a:r>
              <a:rPr sz="750" b="0" i="0">
                <a:solidFill>
                  <a:srgbClr val="1F2937"/>
                </a:solidFill>
              </a:rPr>
              <a:t>Auth service OOM crash</a:t>
            </a:r>
          </a:p>
        </p:txBody>
      </p:sp>
      <p:sp>
        <p:nvSpPr>
          <p:cNvPr id="76" name="Rectangle 75"/>
          <p:cNvSpPr/>
          <p:nvPr/>
        </p:nvSpPr>
        <p:spPr>
          <a:xfrm>
            <a:off x="6537960" y="2423160"/>
            <a:ext cx="731520" cy="146304"/>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50" b="0">
                <a:solidFill>
                  <a:srgbClr val="D97706"/>
                </a:solidFill>
              </a:rPr>
              <a:t>84% match</a:t>
            </a:r>
          </a:p>
        </p:txBody>
      </p:sp>
      <p:sp>
        <p:nvSpPr>
          <p:cNvPr id="77" name="TextBox 76"/>
          <p:cNvSpPr txBox="1"/>
          <p:nvPr/>
        </p:nvSpPr>
        <p:spPr>
          <a:xfrm>
            <a:off x="3200400" y="2624328"/>
            <a:ext cx="3931920" cy="146304"/>
          </a:xfrm>
          <a:prstGeom prst="rect">
            <a:avLst/>
          </a:prstGeom>
          <a:noFill/>
        </p:spPr>
        <p:txBody>
          <a:bodyPr wrap="square">
            <a:spAutoFit/>
          </a:bodyPr>
          <a:lstStyle/>
          <a:p>
            <a:pPr algn="l"/>
            <a:r>
              <a:rPr sz="650" b="0" i="1">
                <a:solidFill>
                  <a:srgbClr val="6B7280"/>
                </a:solidFill>
              </a:rPr>
              <a:t>Resolution: Restart auth pods; increase heap to 2 GB</a:t>
            </a:r>
          </a:p>
        </p:txBody>
      </p:sp>
      <p:sp>
        <p:nvSpPr>
          <p:cNvPr id="78" name="Rectangle 77"/>
          <p:cNvSpPr/>
          <p:nvPr/>
        </p:nvSpPr>
        <p:spPr>
          <a:xfrm>
            <a:off x="3127248" y="2935224"/>
            <a:ext cx="4343400" cy="502920"/>
          </a:xfrm>
          <a:prstGeom prst="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200400" y="2990088"/>
            <a:ext cx="502920" cy="146304"/>
          </a:xfrm>
          <a:prstGeom prst="rect">
            <a:avLst/>
          </a:prstGeom>
          <a:noFill/>
        </p:spPr>
        <p:txBody>
          <a:bodyPr wrap="square">
            <a:spAutoFit/>
          </a:bodyPr>
          <a:lstStyle/>
          <a:p>
            <a:pPr algn="l"/>
            <a:r>
              <a:rPr sz="750" b="1" i="0">
                <a:solidFill>
                  <a:srgbClr val="7C3AED"/>
                </a:solidFill>
              </a:rPr>
              <a:t>INC009</a:t>
            </a:r>
          </a:p>
        </p:txBody>
      </p:sp>
      <p:sp>
        <p:nvSpPr>
          <p:cNvPr id="80" name="TextBox 79"/>
          <p:cNvSpPr txBox="1"/>
          <p:nvPr/>
        </p:nvSpPr>
        <p:spPr>
          <a:xfrm>
            <a:off x="3730752" y="2990088"/>
            <a:ext cx="2743200" cy="146304"/>
          </a:xfrm>
          <a:prstGeom prst="rect">
            <a:avLst/>
          </a:prstGeom>
          <a:noFill/>
        </p:spPr>
        <p:txBody>
          <a:bodyPr wrap="square">
            <a:spAutoFit/>
          </a:bodyPr>
          <a:lstStyle/>
          <a:p>
            <a:pPr algn="l"/>
            <a:r>
              <a:rPr sz="750" b="0" i="0">
                <a:solidFill>
                  <a:srgbClr val="1F2937"/>
                </a:solidFill>
              </a:rPr>
              <a:t>Cache eviction anomaly</a:t>
            </a:r>
          </a:p>
        </p:txBody>
      </p:sp>
      <p:sp>
        <p:nvSpPr>
          <p:cNvPr id="81" name="Rectangle 80"/>
          <p:cNvSpPr/>
          <p:nvPr/>
        </p:nvSpPr>
        <p:spPr>
          <a:xfrm>
            <a:off x="6537960" y="2990088"/>
            <a:ext cx="731520" cy="146304"/>
          </a:xfrm>
          <a:prstGeom prst="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50" b="0">
                <a:solidFill>
                  <a:srgbClr val="2563EB"/>
                </a:solidFill>
              </a:rPr>
              <a:t>71% match</a:t>
            </a:r>
          </a:p>
        </p:txBody>
      </p:sp>
      <p:sp>
        <p:nvSpPr>
          <p:cNvPr id="82" name="TextBox 81"/>
          <p:cNvSpPr txBox="1"/>
          <p:nvPr/>
        </p:nvSpPr>
        <p:spPr>
          <a:xfrm>
            <a:off x="3200400" y="3191256"/>
            <a:ext cx="3931920" cy="146304"/>
          </a:xfrm>
          <a:prstGeom prst="rect">
            <a:avLst/>
          </a:prstGeom>
          <a:noFill/>
        </p:spPr>
        <p:txBody>
          <a:bodyPr wrap="square">
            <a:spAutoFit/>
          </a:bodyPr>
          <a:lstStyle/>
          <a:p>
            <a:pPr algn="l"/>
            <a:r>
              <a:rPr sz="650" b="0" i="1">
                <a:solidFill>
                  <a:srgbClr val="6B7280"/>
                </a:solidFill>
              </a:rPr>
              <a:t>Resolution: Restart auth pods; increase heap to 2 GB</a:t>
            </a:r>
          </a:p>
        </p:txBody>
      </p:sp>
      <p:sp>
        <p:nvSpPr>
          <p:cNvPr id="83" name="Rectangle 82"/>
          <p:cNvSpPr/>
          <p:nvPr/>
        </p:nvSpPr>
        <p:spPr>
          <a:xfrm>
            <a:off x="3127248" y="4818888"/>
            <a:ext cx="1920240" cy="274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218688" y="4873752"/>
            <a:ext cx="1737360" cy="182880"/>
          </a:xfrm>
          <a:prstGeom prst="rect">
            <a:avLst/>
          </a:prstGeom>
          <a:noFill/>
        </p:spPr>
        <p:txBody>
          <a:bodyPr wrap="square">
            <a:spAutoFit/>
          </a:bodyPr>
          <a:lstStyle/>
          <a:p>
            <a:pPr algn="ctr"/>
            <a:r>
              <a:rPr sz="850" b="1" i="0">
                <a:solidFill>
                  <a:srgbClr val="FFFFFF"/>
                </a:solidFill>
              </a:rPr>
              <a:t>⚡  Retrieve Context</a:t>
            </a:r>
          </a:p>
        </p:txBody>
      </p:sp>
      <p:sp>
        <p:nvSpPr>
          <p:cNvPr id="85" name="Rectangle 84"/>
          <p:cNvSpPr/>
          <p:nvPr/>
        </p:nvSpPr>
        <p:spPr>
          <a:xfrm>
            <a:off x="5212079" y="4818888"/>
            <a:ext cx="2240280" cy="274320"/>
          </a:xfrm>
          <a:prstGeom prst="rect">
            <a:avLst/>
          </a:prstGeom>
          <a:solidFill>
            <a:srgbClr val="F3F4F6"/>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303520" y="4873752"/>
            <a:ext cx="2057400" cy="182880"/>
          </a:xfrm>
          <a:prstGeom prst="rect">
            <a:avLst/>
          </a:prstGeom>
          <a:noFill/>
        </p:spPr>
        <p:txBody>
          <a:bodyPr wrap="square">
            <a:spAutoFit/>
          </a:bodyPr>
          <a:lstStyle/>
          <a:p>
            <a:pPr algn="ctr"/>
            <a:r>
              <a:rPr sz="800" b="0" i="0">
                <a:solidFill>
                  <a:srgbClr val="6B7280"/>
                </a:solidFill>
              </a:rPr>
              <a:t>✗  Exclude Selected Items</a:t>
            </a:r>
          </a:p>
        </p:txBody>
      </p:sp>
      <p:sp>
        <p:nvSpPr>
          <p:cNvPr id="87" name="Rectangle 86"/>
          <p:cNvSpPr/>
          <p:nvPr/>
        </p:nvSpPr>
        <p:spPr>
          <a:xfrm>
            <a:off x="7863840" y="777240"/>
            <a:ext cx="4206240" cy="5989320"/>
          </a:xfrm>
          <a:prstGeom prst="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001000" y="822960"/>
            <a:ext cx="2743200" cy="228600"/>
          </a:xfrm>
          <a:prstGeom prst="rect">
            <a:avLst/>
          </a:prstGeom>
          <a:noFill/>
        </p:spPr>
        <p:txBody>
          <a:bodyPr wrap="square">
            <a:spAutoFit/>
          </a:bodyPr>
          <a:lstStyle/>
          <a:p>
            <a:pPr algn="l"/>
            <a:r>
              <a:rPr sz="1000" b="1" i="0">
                <a:solidFill>
                  <a:srgbClr val="1F2937"/>
                </a:solidFill>
              </a:rPr>
              <a:t>AI Assistant</a:t>
            </a:r>
          </a:p>
        </p:txBody>
      </p:sp>
      <p:sp>
        <p:nvSpPr>
          <p:cNvPr id="89" name="TextBox 88"/>
          <p:cNvSpPr txBox="1"/>
          <p:nvPr/>
        </p:nvSpPr>
        <p:spPr>
          <a:xfrm>
            <a:off x="8001000" y="1042416"/>
            <a:ext cx="3840480" cy="146304"/>
          </a:xfrm>
          <a:prstGeom prst="rect">
            <a:avLst/>
          </a:prstGeom>
          <a:noFill/>
        </p:spPr>
        <p:txBody>
          <a:bodyPr wrap="square">
            <a:spAutoFit/>
          </a:bodyPr>
          <a:lstStyle/>
          <a:p>
            <a:pPr algn="l"/>
            <a:r>
              <a:rPr sz="700" b="0" i="1">
                <a:solidFill>
                  <a:srgbClr val="6B7280"/>
                </a:solidFill>
              </a:rPr>
              <a:t>Streaming responses via LangGraph</a:t>
            </a:r>
          </a:p>
        </p:txBody>
      </p:sp>
      <p:sp>
        <p:nvSpPr>
          <p:cNvPr id="90" name="Rectangle 89"/>
          <p:cNvSpPr/>
          <p:nvPr/>
        </p:nvSpPr>
        <p:spPr>
          <a:xfrm>
            <a:off x="8961119" y="1280160"/>
            <a:ext cx="3017520" cy="502920"/>
          </a:xfrm>
          <a:prstGeom prst="rect">
            <a:avLst/>
          </a:prstGeom>
          <a:solidFill>
            <a:srgbClr val="EDE9FE"/>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9034272" y="1335024"/>
            <a:ext cx="2880360" cy="411480"/>
          </a:xfrm>
          <a:prstGeom prst="rect">
            <a:avLst/>
          </a:prstGeom>
          <a:noFill/>
        </p:spPr>
        <p:txBody>
          <a:bodyPr wrap="square">
            <a:spAutoFit/>
          </a:bodyPr>
          <a:lstStyle/>
          <a:p>
            <a:pPr algn="r"/>
            <a:r>
              <a:rPr sz="750" b="0" i="0">
                <a:solidFill>
                  <a:srgbClr val="1F2937"/>
                </a:solidFill>
              </a:rPr>
              <a:t>What caused this memory leak?</a:t>
            </a:r>
          </a:p>
        </p:txBody>
      </p:sp>
      <p:sp>
        <p:nvSpPr>
          <p:cNvPr id="92" name="Rectangle 91"/>
          <p:cNvSpPr/>
          <p:nvPr/>
        </p:nvSpPr>
        <p:spPr>
          <a:xfrm>
            <a:off x="7955279" y="1874519"/>
            <a:ext cx="3017520" cy="914400"/>
          </a:xfrm>
          <a:prstGeom prst="rect">
            <a:avLst/>
          </a:prstGeom>
          <a:solidFill>
            <a:srgbClr val="F0FDFA"/>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8028431" y="1929384"/>
            <a:ext cx="2880360" cy="822960"/>
          </a:xfrm>
          <a:prstGeom prst="rect">
            <a:avLst/>
          </a:prstGeom>
          <a:noFill/>
        </p:spPr>
        <p:txBody>
          <a:bodyPr wrap="square">
            <a:spAutoFit/>
          </a:bodyPr>
          <a:lstStyle/>
          <a:p>
            <a:pPr algn="l"/>
            <a:r>
              <a:rPr sz="750" b="0" i="0">
                <a:solidFill>
                  <a:srgbClr val="1F2937"/>
                </a:solidFill>
              </a:rPr>
              <a:t>Based on similar incident INC042 and the recent database schema change (CHG016 on Jan 7), the root cause is likely an unreleased JDBC connection pool. Recommend restarting auth pods and patching the connection pool config.</a:t>
            </a:r>
          </a:p>
        </p:txBody>
      </p:sp>
      <p:sp>
        <p:nvSpPr>
          <p:cNvPr id="94" name="Rectangle 93"/>
          <p:cNvSpPr/>
          <p:nvPr/>
        </p:nvSpPr>
        <p:spPr>
          <a:xfrm>
            <a:off x="8961119" y="2880360"/>
            <a:ext cx="3017520" cy="502920"/>
          </a:xfrm>
          <a:prstGeom prst="rect">
            <a:avLst/>
          </a:prstGeom>
          <a:solidFill>
            <a:srgbClr val="EDE9FE"/>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034272" y="2935224"/>
            <a:ext cx="2880360" cy="411480"/>
          </a:xfrm>
          <a:prstGeom prst="rect">
            <a:avLst/>
          </a:prstGeom>
          <a:noFill/>
        </p:spPr>
        <p:txBody>
          <a:bodyPr wrap="square">
            <a:spAutoFit/>
          </a:bodyPr>
          <a:lstStyle/>
          <a:p>
            <a:pPr algn="r"/>
            <a:r>
              <a:rPr sz="750" b="0" i="0">
                <a:solidFill>
                  <a:srgbClr val="1F2937"/>
                </a:solidFill>
              </a:rPr>
              <a:t>Which runbook should I follow?</a:t>
            </a:r>
          </a:p>
        </p:txBody>
      </p:sp>
      <p:sp>
        <p:nvSpPr>
          <p:cNvPr id="96" name="TextBox 95"/>
          <p:cNvSpPr txBox="1"/>
          <p:nvPr/>
        </p:nvSpPr>
        <p:spPr>
          <a:xfrm>
            <a:off x="8001000" y="3520439"/>
            <a:ext cx="1828800" cy="182880"/>
          </a:xfrm>
          <a:prstGeom prst="rect">
            <a:avLst/>
          </a:prstGeom>
          <a:noFill/>
        </p:spPr>
        <p:txBody>
          <a:bodyPr wrap="square">
            <a:spAutoFit/>
          </a:bodyPr>
          <a:lstStyle/>
          <a:p>
            <a:pPr algn="l"/>
            <a:r>
              <a:rPr sz="750" b="0" i="1">
                <a:solidFill>
                  <a:srgbClr val="7C3AED"/>
                </a:solidFill>
              </a:rPr>
              <a:t>● Streaming…</a:t>
            </a:r>
          </a:p>
        </p:txBody>
      </p:sp>
      <p:sp>
        <p:nvSpPr>
          <p:cNvPr id="97" name="Rectangle 96"/>
          <p:cNvSpPr/>
          <p:nvPr/>
        </p:nvSpPr>
        <p:spPr>
          <a:xfrm>
            <a:off x="7955279" y="6309360"/>
            <a:ext cx="3291840" cy="274320"/>
          </a:xfrm>
          <a:prstGeom prst="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8046719" y="6355080"/>
            <a:ext cx="2926080" cy="182880"/>
          </a:xfrm>
          <a:prstGeom prst="rect">
            <a:avLst/>
          </a:prstGeom>
          <a:noFill/>
        </p:spPr>
        <p:txBody>
          <a:bodyPr wrap="square">
            <a:spAutoFit/>
          </a:bodyPr>
          <a:lstStyle/>
          <a:p>
            <a:pPr algn="l"/>
            <a:r>
              <a:rPr sz="800" b="0" i="1">
                <a:solidFill>
                  <a:srgbClr val="6B7280"/>
                </a:solidFill>
              </a:rPr>
              <a:t>Ask a follow-up question…</a:t>
            </a:r>
          </a:p>
        </p:txBody>
      </p:sp>
      <p:sp>
        <p:nvSpPr>
          <p:cNvPr id="99" name="Rectangle 98"/>
          <p:cNvSpPr/>
          <p:nvPr/>
        </p:nvSpPr>
        <p:spPr>
          <a:xfrm>
            <a:off x="11338559" y="6309360"/>
            <a:ext cx="594360" cy="274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11356848" y="6355080"/>
            <a:ext cx="548640" cy="182880"/>
          </a:xfrm>
          <a:prstGeom prst="rect">
            <a:avLst/>
          </a:prstGeom>
          <a:noFill/>
        </p:spPr>
        <p:txBody>
          <a:bodyPr wrap="square">
            <a:spAutoFit/>
          </a:bodyPr>
          <a:lstStyle/>
          <a:p>
            <a:pPr algn="ctr"/>
            <a:r>
              <a:rPr sz="800" b="1" i="0">
                <a:solidFill>
                  <a:srgbClr val="FFFFFF"/>
                </a:solidFill>
              </a:rPr>
              <a:t>Send</a:t>
            </a:r>
          </a:p>
        </p:txBody>
      </p:sp>
      <p:sp>
        <p:nvSpPr>
          <p:cNvPr id="101" name="Rectangle 100"/>
          <p:cNvSpPr/>
          <p:nvPr/>
        </p:nvSpPr>
        <p:spPr>
          <a:xfrm>
            <a:off x="45720" y="6428232"/>
            <a:ext cx="12097512" cy="384048"/>
          </a:xfrm>
          <a:prstGeom prst="rect">
            <a:avLst/>
          </a:prstGeom>
          <a:solidFill>
            <a:srgbClr val="F5F3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37160" y="6473952"/>
            <a:ext cx="1371600" cy="228600"/>
          </a:xfrm>
          <a:prstGeom prst="rect">
            <a:avLst/>
          </a:prstGeom>
          <a:noFill/>
        </p:spPr>
        <p:txBody>
          <a:bodyPr wrap="square">
            <a:spAutoFit/>
          </a:bodyPr>
          <a:lstStyle/>
          <a:p>
            <a:pPr algn="l"/>
            <a:r>
              <a:rPr sz="750" b="1" i="0">
                <a:solidFill>
                  <a:srgbClr val="7C3AED"/>
                </a:solidFill>
              </a:rPr>
              <a:t>LangGraph Orchestration:</a:t>
            </a:r>
          </a:p>
        </p:txBody>
      </p:sp>
      <p:sp>
        <p:nvSpPr>
          <p:cNvPr id="103" name="Rectangle 102"/>
          <p:cNvSpPr/>
          <p:nvPr/>
        </p:nvSpPr>
        <p:spPr>
          <a:xfrm>
            <a:off x="1600200" y="6501384"/>
            <a:ext cx="1051560" cy="20116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1">
                <a:solidFill>
                  <a:srgbClr val="FFFFFF"/>
                </a:solidFill>
              </a:rPr>
              <a:t>Orchestrator</a:t>
            </a:r>
          </a:p>
        </p:txBody>
      </p:sp>
      <p:sp>
        <p:nvSpPr>
          <p:cNvPr id="104" name="TextBox 103"/>
          <p:cNvSpPr txBox="1"/>
          <p:nvPr/>
        </p:nvSpPr>
        <p:spPr>
          <a:xfrm>
            <a:off x="2633472" y="6519672"/>
            <a:ext cx="109728" cy="164592"/>
          </a:xfrm>
          <a:prstGeom prst="rect">
            <a:avLst/>
          </a:prstGeom>
          <a:noFill/>
        </p:spPr>
        <p:txBody>
          <a:bodyPr wrap="square">
            <a:spAutoFit/>
          </a:bodyPr>
          <a:lstStyle/>
          <a:p>
            <a:pPr algn="ctr"/>
            <a:r>
              <a:rPr sz="800" b="0" i="0">
                <a:solidFill>
                  <a:srgbClr val="9CA3AF"/>
                </a:solidFill>
              </a:rPr>
              <a:t>→</a:t>
            </a:r>
          </a:p>
        </p:txBody>
      </p:sp>
      <p:sp>
        <p:nvSpPr>
          <p:cNvPr id="105" name="Rectangle 104"/>
          <p:cNvSpPr/>
          <p:nvPr/>
        </p:nvSpPr>
        <p:spPr>
          <a:xfrm>
            <a:off x="2724912" y="6501384"/>
            <a:ext cx="1325880" cy="201168"/>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0">
                <a:solidFill>
                  <a:srgbClr val="7C3AED"/>
                </a:solidFill>
              </a:rPr>
              <a:t>ServiceNow Agent</a:t>
            </a:r>
          </a:p>
        </p:txBody>
      </p:sp>
      <p:sp>
        <p:nvSpPr>
          <p:cNvPr id="106" name="TextBox 105"/>
          <p:cNvSpPr txBox="1"/>
          <p:nvPr/>
        </p:nvSpPr>
        <p:spPr>
          <a:xfrm>
            <a:off x="4032504" y="6519672"/>
            <a:ext cx="109728" cy="164592"/>
          </a:xfrm>
          <a:prstGeom prst="rect">
            <a:avLst/>
          </a:prstGeom>
          <a:noFill/>
        </p:spPr>
        <p:txBody>
          <a:bodyPr wrap="square">
            <a:spAutoFit/>
          </a:bodyPr>
          <a:lstStyle/>
          <a:p>
            <a:pPr algn="ctr"/>
            <a:r>
              <a:rPr sz="800" b="0" i="0">
                <a:solidFill>
                  <a:srgbClr val="9CA3AF"/>
                </a:solidFill>
              </a:rPr>
              <a:t>→</a:t>
            </a:r>
          </a:p>
        </p:txBody>
      </p:sp>
      <p:sp>
        <p:nvSpPr>
          <p:cNvPr id="107" name="Rectangle 106"/>
          <p:cNvSpPr/>
          <p:nvPr/>
        </p:nvSpPr>
        <p:spPr>
          <a:xfrm>
            <a:off x="4123944" y="6501384"/>
            <a:ext cx="1600200" cy="201168"/>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0">
                <a:solidFill>
                  <a:srgbClr val="7C3AED"/>
                </a:solidFill>
              </a:rPr>
              <a:t>Knowledge Base Agent</a:t>
            </a:r>
          </a:p>
        </p:txBody>
      </p:sp>
      <p:sp>
        <p:nvSpPr>
          <p:cNvPr id="108" name="TextBox 107"/>
          <p:cNvSpPr txBox="1"/>
          <p:nvPr/>
        </p:nvSpPr>
        <p:spPr>
          <a:xfrm>
            <a:off x="5705856" y="6519672"/>
            <a:ext cx="109728" cy="164592"/>
          </a:xfrm>
          <a:prstGeom prst="rect">
            <a:avLst/>
          </a:prstGeom>
          <a:noFill/>
        </p:spPr>
        <p:txBody>
          <a:bodyPr wrap="square">
            <a:spAutoFit/>
          </a:bodyPr>
          <a:lstStyle/>
          <a:p>
            <a:pPr algn="ctr"/>
            <a:r>
              <a:rPr sz="800" b="0" i="0">
                <a:solidFill>
                  <a:srgbClr val="9CA3AF"/>
                </a:solidFill>
              </a:rPr>
              <a:t>→</a:t>
            </a:r>
          </a:p>
        </p:txBody>
      </p:sp>
      <p:sp>
        <p:nvSpPr>
          <p:cNvPr id="109" name="Rectangle 108"/>
          <p:cNvSpPr/>
          <p:nvPr/>
        </p:nvSpPr>
        <p:spPr>
          <a:xfrm>
            <a:off x="5797296" y="6501384"/>
            <a:ext cx="1463039" cy="201168"/>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0">
                <a:solidFill>
                  <a:srgbClr val="7C3AED"/>
                </a:solidFill>
              </a:rPr>
              <a:t>Change Correlation</a:t>
            </a:r>
          </a:p>
        </p:txBody>
      </p:sp>
      <p:sp>
        <p:nvSpPr>
          <p:cNvPr id="110" name="TextBox 109"/>
          <p:cNvSpPr txBox="1"/>
          <p:nvPr/>
        </p:nvSpPr>
        <p:spPr>
          <a:xfrm>
            <a:off x="7242048" y="6519672"/>
            <a:ext cx="109728" cy="164592"/>
          </a:xfrm>
          <a:prstGeom prst="rect">
            <a:avLst/>
          </a:prstGeom>
          <a:noFill/>
        </p:spPr>
        <p:txBody>
          <a:bodyPr wrap="square">
            <a:spAutoFit/>
          </a:bodyPr>
          <a:lstStyle/>
          <a:p>
            <a:pPr algn="ctr"/>
            <a:r>
              <a:rPr sz="800" b="0" i="0">
                <a:solidFill>
                  <a:srgbClr val="9CA3AF"/>
                </a:solidFill>
              </a:rPr>
              <a:t>→</a:t>
            </a:r>
          </a:p>
        </p:txBody>
      </p:sp>
      <p:sp>
        <p:nvSpPr>
          <p:cNvPr id="111" name="Rectangle 110"/>
          <p:cNvSpPr/>
          <p:nvPr/>
        </p:nvSpPr>
        <p:spPr>
          <a:xfrm>
            <a:off x="7333488" y="6501384"/>
            <a:ext cx="914400" cy="201168"/>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0">
                <a:solidFill>
                  <a:srgbClr val="7C3AED"/>
                </a:solidFill>
              </a:rPr>
              <a:t>Logs Agent</a:t>
            </a:r>
          </a:p>
        </p:txBody>
      </p:sp>
      <p:sp>
        <p:nvSpPr>
          <p:cNvPr id="112" name="TextBox 111"/>
          <p:cNvSpPr txBox="1"/>
          <p:nvPr/>
        </p:nvSpPr>
        <p:spPr>
          <a:xfrm>
            <a:off x="8229600" y="6519672"/>
            <a:ext cx="109728" cy="164592"/>
          </a:xfrm>
          <a:prstGeom prst="rect">
            <a:avLst/>
          </a:prstGeom>
          <a:noFill/>
        </p:spPr>
        <p:txBody>
          <a:bodyPr wrap="square">
            <a:spAutoFit/>
          </a:bodyPr>
          <a:lstStyle/>
          <a:p>
            <a:pPr algn="ctr"/>
            <a:r>
              <a:rPr sz="800" b="0" i="0">
                <a:solidFill>
                  <a:srgbClr val="9CA3AF"/>
                </a:solidFill>
              </a:rPr>
              <a:t>→</a:t>
            </a:r>
          </a:p>
        </p:txBody>
      </p:sp>
      <p:sp>
        <p:nvSpPr>
          <p:cNvPr id="113" name="Rectangle 112"/>
          <p:cNvSpPr/>
          <p:nvPr/>
        </p:nvSpPr>
        <p:spPr>
          <a:xfrm>
            <a:off x="8321040" y="6501384"/>
            <a:ext cx="1051560" cy="201168"/>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0">
                <a:solidFill>
                  <a:srgbClr val="7C3AED"/>
                </a:solidFill>
              </a:rPr>
              <a:t>Events Agent</a:t>
            </a:r>
          </a:p>
        </p:txBody>
      </p:sp>
      <p:sp>
        <p:nvSpPr>
          <p:cNvPr id="114" name="TextBox 113"/>
          <p:cNvSpPr txBox="1"/>
          <p:nvPr/>
        </p:nvSpPr>
        <p:spPr>
          <a:xfrm>
            <a:off x="9354312" y="6519672"/>
            <a:ext cx="109728" cy="164592"/>
          </a:xfrm>
          <a:prstGeom prst="rect">
            <a:avLst/>
          </a:prstGeom>
          <a:noFill/>
        </p:spPr>
        <p:txBody>
          <a:bodyPr wrap="square">
            <a:spAutoFit/>
          </a:bodyPr>
          <a:lstStyle/>
          <a:p>
            <a:pPr algn="ctr"/>
            <a:r>
              <a:rPr sz="800" b="0" i="0">
                <a:solidFill>
                  <a:srgbClr val="9CA3AF"/>
                </a:solidFill>
              </a:rPr>
              <a:t>→</a:t>
            </a:r>
          </a:p>
        </p:txBody>
      </p:sp>
      <p:sp>
        <p:nvSpPr>
          <p:cNvPr id="115" name="Rectangle 114"/>
          <p:cNvSpPr/>
          <p:nvPr/>
        </p:nvSpPr>
        <p:spPr>
          <a:xfrm>
            <a:off x="9445752" y="6501384"/>
            <a:ext cx="2286000" cy="201168"/>
          </a:xfrm>
          <a:prstGeom prst="rect">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0">
                <a:solidFill>
                  <a:srgbClr val="059669"/>
                </a:solidFill>
              </a:rPr>
              <a:t>LLM (OpenAI / Gemini / Ollama)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